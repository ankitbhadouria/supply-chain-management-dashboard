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108dceded403c" /><Relationship Type="http://schemas.openxmlformats.org/officeDocument/2006/relationships/extended-properties" Target="/docProps/app.xml" Id="Ra552625703084a4c" /><Relationship Type="http://schemas.openxmlformats.org/officeDocument/2006/relationships/officeDocument" Target="/ppt/presentation.xml" Id="R1f04b1dfeb7e45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1e8e9754a34d88"/>
  </p:sldMasterIdLst>
  <p:notesMasterIdLst>
    <p:notesMasterId xmlns:r="http://schemas.openxmlformats.org/officeDocument/2006/relationships" r:id="R4e2d092be8744a26"/>
  </p:notesMasterIdLst>
  <p:sldIdLst>
    <p:sldId xmlns:r="http://schemas.openxmlformats.org/officeDocument/2006/relationships" id="256" r:id="Rbf8b2ae9990d43ca"/>
    <p:sldId xmlns:r="http://schemas.openxmlformats.org/officeDocument/2006/relationships" id="257" r:id="R0748d8e4ff5a47b7"/>
    <p:sldId xmlns:r="http://schemas.openxmlformats.org/officeDocument/2006/relationships" id="258" r:id="R083a7c49b8f84472"/>
    <p:sldId xmlns:r="http://schemas.openxmlformats.org/officeDocument/2006/relationships" id="259" r:id="Re6531499546f40cd"/>
    <p:sldId xmlns:r="http://schemas.openxmlformats.org/officeDocument/2006/relationships" id="260" r:id="Rc40d1bad2d784c63"/>
    <p:sldId xmlns:r="http://schemas.openxmlformats.org/officeDocument/2006/relationships" id="261" r:id="R4a5284f552744ff3"/>
    <p:sldId xmlns:r="http://schemas.openxmlformats.org/officeDocument/2006/relationships" id="262" r:id="R946a40f648f544d9"/>
    <p:sldId xmlns:r="http://schemas.openxmlformats.org/officeDocument/2006/relationships" id="263" r:id="Re8bf927a0c574bff"/>
    <p:sldId xmlns:r="http://schemas.openxmlformats.org/officeDocument/2006/relationships" id="264" r:id="R6ee382fcbe904474"/>
    <p:sldId xmlns:r="http://schemas.openxmlformats.org/officeDocument/2006/relationships" id="265" r:id="Rce4e960549024e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248747ebd941aa" /><Relationship Type="http://schemas.openxmlformats.org/officeDocument/2006/relationships/slideMaster" Target="/ppt/slideMasters/slideMaster1.xml" Id="R471e8e9754a34d88" /><Relationship Type="http://schemas.openxmlformats.org/officeDocument/2006/relationships/notesMaster" Target="/ppt/notesMasters/notesMaster1.xml" Id="R4e2d092be8744a26" /><Relationship Type="http://schemas.openxmlformats.org/officeDocument/2006/relationships/presProps" Target="/ppt/presProps.xml" Id="R74ad3fb748bd4dbe" /><Relationship Type="http://schemas.openxmlformats.org/officeDocument/2006/relationships/tableStyles" Target="/ppt/tableStyles.xml" Id="Rc60c4d335cd54642" /><Relationship Type="http://schemas.openxmlformats.org/officeDocument/2006/relationships/slide" Target="/ppt/slides/slide1.xml" Id="Rbf8b2ae9990d43ca" /><Relationship Type="http://schemas.openxmlformats.org/officeDocument/2006/relationships/slide" Target="/ppt/slides/slide2.xml" Id="R0748d8e4ff5a47b7" /><Relationship Type="http://schemas.openxmlformats.org/officeDocument/2006/relationships/slide" Target="/ppt/slides/slide3.xml" Id="R083a7c49b8f84472" /><Relationship Type="http://schemas.openxmlformats.org/officeDocument/2006/relationships/slide" Target="/ppt/slides/slide4.xml" Id="Re6531499546f40cd" /><Relationship Type="http://schemas.openxmlformats.org/officeDocument/2006/relationships/slide" Target="/ppt/slides/slide5.xml" Id="Rc40d1bad2d784c63" /><Relationship Type="http://schemas.openxmlformats.org/officeDocument/2006/relationships/slide" Target="/ppt/slides/slide6.xml" Id="R4a5284f552744ff3" /><Relationship Type="http://schemas.openxmlformats.org/officeDocument/2006/relationships/slide" Target="/ppt/slides/slide7.xml" Id="R946a40f648f544d9" /><Relationship Type="http://schemas.openxmlformats.org/officeDocument/2006/relationships/slide" Target="/ppt/slides/slide8.xml" Id="Re8bf927a0c574bff" /><Relationship Type="http://schemas.openxmlformats.org/officeDocument/2006/relationships/slide" Target="/ppt/slides/slide9.xml" Id="R6ee382fcbe904474" /><Relationship Type="http://schemas.openxmlformats.org/officeDocument/2006/relationships/slide" Target="/ppt/slides/slide10.xml" Id="Rce4e96054902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975bbcdad4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465c5c7e814cd5" /><Relationship Type="http://schemas.openxmlformats.org/officeDocument/2006/relationships/notesMaster" Target="/ppt/notesMasters/notesMaster1.xml" Id="R65ed2c0c8e824c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18e253240e4ffb" /><Relationship Type="http://schemas.openxmlformats.org/officeDocument/2006/relationships/notesMaster" Target="/ppt/notesMasters/notesMaster1.xml" Id="R09cb4d940b8f49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96cc66a73e4ba1" /><Relationship Type="http://schemas.openxmlformats.org/officeDocument/2006/relationships/notesMaster" Target="/ppt/notesMasters/notesMaster1.xml" Id="R12eab5c80ec849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7f12767fe24850" /><Relationship Type="http://schemas.openxmlformats.org/officeDocument/2006/relationships/notesMaster" Target="/ppt/notesMasters/notesMaster1.xml" Id="R9bee4cf1131141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e637a5a964194" /><Relationship Type="http://schemas.openxmlformats.org/officeDocument/2006/relationships/notesMaster" Target="/ppt/notesMasters/notesMaster1.xml" Id="R3a63da9cf55a4d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bbcb6dcd764700" /><Relationship Type="http://schemas.openxmlformats.org/officeDocument/2006/relationships/notesMaster" Target="/ppt/notesMasters/notesMaster1.xml" Id="Re6bbb5831df84c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575d21c05a4705" /><Relationship Type="http://schemas.openxmlformats.org/officeDocument/2006/relationships/notesMaster" Target="/ppt/notesMasters/notesMaster1.xml" Id="R000afe463f5245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47eb7d25224975" /><Relationship Type="http://schemas.openxmlformats.org/officeDocument/2006/relationships/notesMaster" Target="/ppt/notesMasters/notesMaster1.xml" Id="Ra7c223dcf52045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4c4a8495154ede" /><Relationship Type="http://schemas.openxmlformats.org/officeDocument/2006/relationships/notesMaster" Target="/ppt/notesMasters/notesMaster1.xml" Id="R71999f6c75b14d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7166155da64453" /><Relationship Type="http://schemas.openxmlformats.org/officeDocument/2006/relationships/notesMaster" Target="/ppt/notesMasters/notesMaster1.xml" Id="R5042c7c67c964c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b420dbd95e4e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d9ab90fca548ff" /><Relationship Type="http://schemas.openxmlformats.org/officeDocument/2006/relationships/slideLayout" Target="/ppt/slideLayouts/slideLayout1.xml" Id="R1f55e3750ea74d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55e3750ea74d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70332f2024d8a" /><Relationship Type="http://schemas.openxmlformats.org/officeDocument/2006/relationships/notesSlide" Target="/ppt/notesSlides/notesSlide1.xml" Id="R4766a437de5546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f38691c1d4c08" /><Relationship Type="http://schemas.openxmlformats.org/officeDocument/2006/relationships/notesSlide" Target="/ppt/notesSlides/notesSlide2.xml" Id="R6ee9ac080b4b47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f12804fd44a56" /><Relationship Type="http://schemas.openxmlformats.org/officeDocument/2006/relationships/notesSlide" Target="/ppt/notesSlides/notesSlide3.xml" Id="R8c8110a412e743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ebc87834443d4" /><Relationship Type="http://schemas.openxmlformats.org/officeDocument/2006/relationships/notesSlide" Target="/ppt/notesSlides/notesSlide4.xml" Id="Rcc027d8ba6ce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bd9aaf3574d90" /><Relationship Type="http://schemas.openxmlformats.org/officeDocument/2006/relationships/notesSlide" Target="/ppt/notesSlides/notesSlide5.xml" Id="Rbdab57e0104f4a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4382a397b49a7" /><Relationship Type="http://schemas.openxmlformats.org/officeDocument/2006/relationships/notesSlide" Target="/ppt/notesSlides/notesSlide6.xml" Id="R72de31d50bf14e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2039a2e1044392" /><Relationship Type="http://schemas.openxmlformats.org/officeDocument/2006/relationships/notesSlide" Target="/ppt/notesSlides/notesSlide7.xml" Id="Rda8bc968654043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d58268354497d" /><Relationship Type="http://schemas.openxmlformats.org/officeDocument/2006/relationships/chart" Target="/ppt/slides/charts/chart1.xml" Id="R1d0ccf68f93b433e" /><Relationship Type="http://schemas.openxmlformats.org/officeDocument/2006/relationships/notesSlide" Target="/ppt/notesSlides/notesSlide8.xml" Id="Rc0238c641ba7483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3d86e9a7d4c7f" /><Relationship Type="http://schemas.openxmlformats.org/officeDocument/2006/relationships/notesSlide" Target="/ppt/notesSlides/notesSlide9.xml" Id="Ra5bfa44955de4d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33f7fb4ef413a" /><Relationship Type="http://schemas.openxmlformats.org/officeDocument/2006/relationships/notesSlide" Target="/ppt/notesSlides/notesSlide10.xml" Id="R0bebee53f3de48a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Shipments</c:v>
          </c:tx>
          <c:spPr>
            <a:solidFill xmlns:a="http://schemas.openxmlformats.org/drawingml/2006/main">
              <a:srgbClr val="2E74B5"/>
            </a:solidFill>
          </c:spPr>
          <c:cat>
            <c:strLit>
              <c:ptCount val="4"/>
              <c:pt idx="0">
                <c:v>Standard Class</c:v>
              </c:pt>
              <c:pt idx="1">
                <c:v>Second Class</c:v>
              </c:pt>
              <c:pt idx="2">
                <c:v>First Class</c:v>
              </c:pt>
              <c:pt idx="3">
                <c:v>Same Day</c:v>
              </c:pt>
            </c:strLit>
          </c:cat>
          <c:val>
            <c:numLit>
              <c:formatCode>General</c:formatCode>
              <c:ptCount val="4"/>
              <c:pt idx="0">
                <c:v>107752</c:v>
              </c:pt>
              <c:pt idx="1">
                <c:v>35216</c:v>
              </c:pt>
              <c:pt idx="2">
                <c:v>27814</c:v>
              </c:pt>
              <c:pt idx="3">
                <c:v>9737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26B10-92E6-4FAC-85CC-B5B6E803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Supply Chain Management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32544-C195-42CE-B927-F4CC3977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Validated logistics analytics dashboard using MySQL, Python, and Power BI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E48C6-9062-4441-A023-4D5987AF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3CEB88-9244-4460-8315-ED052D35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181K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9FF85-8247-418F-9684-F5CF93C3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Total Shipments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A05BA-E7BA-4436-AD4D-BEA6C2C5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97B3-E901-4B61-819E-06C5A784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99K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3FEA89-A11F-486F-B860-F5B1198A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Late Shipments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C0CD8-268D-403E-B282-5812F26D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096D7-0F61-4AE2-B019-B6FD3CA7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32K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BFE439-BDA3-408C-9215-70C4D42B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On-Time Shipments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B3B6E1-D27D-4161-AD1A-63A4B771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90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6C71E-B19E-48C6-8B8A-2C838E8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3.50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0B994-08DD-4954-850F-3C2A6A59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38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Avg Shipping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2B0BE-FE8A-4A53-B953-7E1EDE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Six dashboard pages completed</a:t>
            </a:r>
          </a:p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Decision focus: delays, risk, regions, routes, shipping modes, and customer/product performance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F9D0A-5CB2-4AC2-AB63-1FE6445A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1</a:t>
            </a:r>
          </a:p>
        </p:txBody>
      </p:sp>
    </p:spTree>
    <p:extLst>
      <p:ext uri="{BB962C8B-B14F-4D97-AF65-F5344CB8AC3E}">
        <p14:creationId xmlns:p14="http://schemas.microsoft.com/office/powerpoint/2010/main" val="6193497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CB6130-0405-4B3D-96FD-1417763B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project solves a visibility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67771E-84FA-4CEC-B138-1B30656D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Supply chain teams need validated answers, not isolated charts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C458D-FCE1-4FE6-A8C8-2C7BC4D1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87630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Where are late shipments concentrated?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Which shipping modes carry the most operational load?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Which routes and regions create the highest delivery risk?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Are high-priority shipments actually performing better?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How do customer segments and products contribute to sales and profit?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FC065-0B0E-484C-9757-0562418F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2</a:t>
            </a:r>
          </a:p>
        </p:txBody>
      </p:sp>
    </p:spTree>
    <p:extLst>
      <p:ext uri="{BB962C8B-B14F-4D97-AF65-F5344CB8AC3E}">
        <p14:creationId xmlns:p14="http://schemas.microsoft.com/office/powerpoint/2010/main" val="205228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B0966-BF83-472E-9C64-A7E52898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workflow validates data before visualizing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2390E-9052-4BEE-AF01-190946F9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CSV data moves through SQL and Python checks before Power BI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04426E-5809-49FD-B2CA-3A712CFE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7C21D-5EF8-4B03-9485-9543F44D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CSV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3C1732-BEB7-4FE6-A236-4213C7B8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432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2A7A3-3BD5-467E-AED7-D3CFB290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7051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5A6684-8D69-4DC2-BEED-4715379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8765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MySQL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A5B036-EE37-42D8-804D-0F4E55C8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432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16425-2B41-47E2-9F64-28816625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051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270F6-FE10-4E8E-8816-AC14FF39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8765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Python 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3D118-7649-4C75-9BDF-D40CDB8D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432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52EC26-7D14-4337-A759-EF2BF631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051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532CA7-1980-4A0E-87CB-44E6B367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765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Power BI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86EC44-F961-48E4-9212-873FC9B2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4322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9525">
            <a:solidFill>
              <a:srgbClr val="2E74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9E8D24-B732-4ACA-911D-03CBFD891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05100"/>
            <a:ext cx="1581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7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9F959-C1AC-4044-92C0-6D33E0E4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2545"/>
                </a:solidFill>
              </a:defRPr>
            </a:pPr>
            <a:r>
              <a:rPr sz="1350" b="1">
                <a:solidFill>
                  <a:srgbClr val="0B2545"/>
                </a:solidFill>
              </a:rPr>
              <a:t>Dashboard Insights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CBE8B-A253-46C5-BC5D-E0B682BF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857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MySQL confirms KPI totals with direct queries</a:t>
            </a:r>
          </a:p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Python checks shape, missing values, duplicates, data types, and recalculated totals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2C3EB-5160-44C6-BCD7-8EEA974B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3</a:t>
            </a:r>
          </a:p>
        </p:txBody>
      </p:sp>
    </p:spTree>
    <p:extLst>
      <p:ext uri="{BB962C8B-B14F-4D97-AF65-F5344CB8AC3E}">
        <p14:creationId xmlns:p14="http://schemas.microsoft.com/office/powerpoint/2010/main" val="675364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34254-F89F-4208-9B8B-C9A2A066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Transportation is the main operational 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8D8EF-738D-4A13-B6A9-8DAE78AF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Product data supports the sales and customer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A3B30-802F-47DD-9AD4-6FE08BA6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9810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Transportation: shipment volume, delivery status, transportation status, routes, regions, priority, shipping mode, and shipping days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Product: total sales, profit, average sales per order, product category, top products, and customer segment analysis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Existing Power BI measures are reused across pages to keep calculations consistent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321E9-01DD-4360-80C7-EA14F833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4</a:t>
            </a:r>
          </a:p>
        </p:txBody>
      </p:sp>
    </p:spTree>
    <p:extLst>
      <p:ext uri="{BB962C8B-B14F-4D97-AF65-F5344CB8AC3E}">
        <p14:creationId xmlns:p14="http://schemas.microsoft.com/office/powerpoint/2010/main" val="498306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AA3F48-0C5A-4224-BC58-000EB31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SQL and Python protect the dashboard from wrong totals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862F2-90BE-4660-80F8-52FC1EB2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Validation evidence should be included in the final submission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58320-7CA3-455D-9E4C-EF428121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E48F84-A92B-49BE-8BB7-CBEA316F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Queries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14B31-6F6E-44EE-87CB-52BE428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0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SQL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39B85-9B5E-4E03-AFF2-9E027FCA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E3240-13E5-4D48-8C8C-75CBBB8E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621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CSV QA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0BD39-758D-4F0C-A10F-E0B20369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0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Python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BD2B6-B109-4D0F-AC90-268CA2AF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0E676-AB6C-4EE6-A3C7-B6FC357A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Visuals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ACE5E-34D0-4262-8EA5-18E89420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0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Power BI checks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5DB54-1D25-45EF-A7D5-79310CA5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90487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Compare COUNT, AVG, GROUP BY, sales, profit, and percentage results</a:t>
            </a:r>
          </a:p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Validate known totals such as 180,519 shipments and 36,784,734.31 total sales</a:t>
            </a:r>
          </a:p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Check slicers, sorting, visual titles, and duplicated or misleading visuals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72C499-E081-4D4E-AE23-DDE14E2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5</a:t>
            </a:r>
          </a:p>
        </p:txBody>
      </p:sp>
    </p:spTree>
    <p:extLst>
      <p:ext uri="{BB962C8B-B14F-4D97-AF65-F5344CB8AC3E}">
        <p14:creationId xmlns:p14="http://schemas.microsoft.com/office/powerpoint/2010/main" val="9176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4C292-4684-45D0-BF75-37E0854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The dashboard is organized into six decision pages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3685E-5B08-476B-9080-955EE828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Each page answers a different business question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A9196-2A2F-4EC2-BFF7-73DB23F2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62125"/>
            <a:ext cx="4524375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B3A"/>
                </a:solidFill>
              </a:defRPr>
            </a:pPr>
            <a:r>
              <a:rPr sz="1725" b="0">
                <a:solidFill>
                  <a:srgbClr val="182B3A"/>
                </a:solidFill>
              </a:rPr>
              <a:t>• Executive Overview</a:t>
            </a:r>
          </a:p>
          <a:p xmlns:a="http://schemas.openxmlformats.org/drawingml/2006/main">
            <a:pPr algn="l">
              <a:defRPr sz="1725" b="0">
                <a:solidFill>
                  <a:srgbClr val="182B3A"/>
                </a:solidFill>
              </a:defRPr>
            </a:pPr>
            <a:r>
              <a:rPr sz="1725" b="0">
                <a:solidFill>
                  <a:srgbClr val="182B3A"/>
                </a:solidFill>
              </a:rPr>
              <a:t>• Transportation Performance</a:t>
            </a:r>
          </a:p>
          <a:p xmlns:a="http://schemas.openxmlformats.org/drawingml/2006/main">
            <a:pPr algn="l">
              <a:defRPr sz="1725" b="0">
                <a:solidFill>
                  <a:srgbClr val="182B3A"/>
                </a:solidFill>
              </a:defRPr>
            </a:pPr>
            <a:r>
              <a:rPr sz="1725" b="0">
                <a:solidFill>
                  <a:srgbClr val="182B3A"/>
                </a:solidFill>
              </a:rPr>
              <a:t>• Route &amp; Geographic Analysis</a:t>
            </a:r>
          </a:p>
          <a:p xmlns:a="http://schemas.openxmlformats.org/drawingml/2006/main">
            <a:pPr algn="l">
              <a:defRPr sz="1725" b="0">
                <a:solidFill>
                  <a:srgbClr val="182B3A"/>
                </a:solidFill>
              </a:defRPr>
            </a:pPr>
            <a:r>
              <a:rPr sz="1725" b="0">
                <a:solidFill>
                  <a:srgbClr val="182B3A"/>
                </a:solidFill>
              </a:rPr>
              <a:t>• Sales &amp; Customer Analysis</a:t>
            </a:r>
          </a:p>
          <a:p xmlns:a="http://schemas.openxmlformats.org/drawingml/2006/main">
            <a:pPr algn="l">
              <a:defRPr sz="1725" b="0">
                <a:solidFill>
                  <a:srgbClr val="182B3A"/>
                </a:solidFill>
              </a:defRPr>
            </a:pPr>
            <a:r>
              <a:rPr sz="1725" b="0">
                <a:solidFill>
                  <a:srgbClr val="182B3A"/>
                </a:solidFill>
              </a:rPr>
              <a:t>• Delivery &amp; Risk Analysis</a:t>
            </a:r>
          </a:p>
          <a:p xmlns:a="http://schemas.openxmlformats.org/drawingml/2006/main">
            <a:pPr algn="l">
              <a:defRPr sz="1725" b="0">
                <a:solidFill>
                  <a:srgbClr val="182B3A"/>
                </a:solidFill>
              </a:defRPr>
            </a:pPr>
            <a:r>
              <a:rPr sz="1725" b="0">
                <a:solidFill>
                  <a:srgbClr val="182B3A"/>
                </a:solidFill>
              </a:rPr>
              <a:t>• Management &amp; Operational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F63E2-3831-4435-8956-7C55CE03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4095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77FCB-7F4A-4667-82A9-971ACD3D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71775"/>
            <a:ext cx="3638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48B"/>
                </a:solidFill>
              </a:defRPr>
            </a:pPr>
            <a:r>
              <a:rPr sz="1500" b="1">
                <a:solidFill>
                  <a:srgbClr val="64748B"/>
                </a:solidFill>
              </a:rPr>
              <a:t>Insert one full dashboard overview screenshot here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2CB06-229D-4D6C-BEE8-F9550831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6</a:t>
            </a:r>
          </a:p>
        </p:txBody>
      </p:sp>
    </p:spTree>
    <p:extLst>
      <p:ext uri="{BB962C8B-B14F-4D97-AF65-F5344CB8AC3E}">
        <p14:creationId xmlns:p14="http://schemas.microsoft.com/office/powerpoint/2010/main" val="7737759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FFC35D-921E-48AE-A411-7D200836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Delivery risk is the main operational concern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745BF-66EE-4745-BBCD-C2B523FC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Late and high-risk shipment counts are both very high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89B11-6580-44F1-8F53-E1F968896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81F9D-4675-4728-B41D-962CC147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621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98,977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6314D-77B9-4729-9268-3106BD24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00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Late Shipments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0CC3DC-8388-4521-B08E-7DE98C09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121DE-E036-4874-9F10-808441C3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1621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98,977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6CA2E-F18E-484C-BA53-51AB6D0A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00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High-Risk Shipments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B1351-38FC-4C4E-A4D9-B676DB0D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0D9A56-2B6F-46DF-8542-317BDF05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62175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54.83%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73D2B-BB6B-431E-9A0A-D0CC6F6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0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High Risk 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9FB3F-1BC1-43ED-A5A8-DCBD3C13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Some routes show a Route Late % of 1.00, meaning 100% late shipments in the current data</a:t>
            </a:r>
          </a:p>
          <a:p xmlns:a="http://schemas.openxmlformats.org/drawingml/2006/main">
            <a:pPr algn="l">
              <a:defRPr sz="1650" b="0">
                <a:solidFill>
                  <a:srgbClr val="182B3A"/>
                </a:solidFill>
              </a:defRPr>
            </a:pPr>
            <a:r>
              <a:rPr sz="1650" b="0">
                <a:solidFill>
                  <a:srgbClr val="182B3A"/>
                </a:solidFill>
              </a:rPr>
              <a:t>• High-priority shipments appear fully late/high-risk in the final page review and should be treated as a key finding to 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B610E-7374-4DDA-A6ED-1758985F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7</a:t>
            </a:r>
          </a:p>
        </p:txBody>
      </p:sp>
    </p:spTree>
    <p:extLst>
      <p:ext uri="{BB962C8B-B14F-4D97-AF65-F5344CB8AC3E}">
        <p14:creationId xmlns:p14="http://schemas.microsoft.com/office/powerpoint/2010/main" val="16902913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CF932-1557-40E2-95E8-7A429834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Shipping mode volume shows where improvement can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C1E71-51E0-48D4-A49D-3EE65AD1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Standard Class carries the largest workload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1143000" y="1714500"/>
          <a:ext xmlns:a="http://schemas.openxmlformats.org/drawingml/2006/main" cx="74295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0ccf68f93b433e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F6E5C-C3E8-4259-9CAD-F41D92A33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B3A"/>
                </a:solidFill>
              </a:defRPr>
            </a:pPr>
            <a:r>
              <a:rPr sz="1500" b="0">
                <a:solidFill>
                  <a:srgbClr val="182B3A"/>
                </a:solidFill>
              </a:rPr>
              <a:t>• Largest mode: Standard Class</a:t>
            </a:r>
          </a:p>
          <a:p xmlns:a="http://schemas.openxmlformats.org/drawingml/2006/main">
            <a:pPr algn="l">
              <a:defRPr sz="1500" b="0">
                <a:solidFill>
                  <a:srgbClr val="182B3A"/>
                </a:solidFill>
              </a:defRPr>
            </a:pPr>
            <a:r>
              <a:rPr sz="1500" b="0">
                <a:solidFill>
                  <a:srgbClr val="182B3A"/>
                </a:solidFill>
              </a:rPr>
              <a:t>• Small gains in the largest mode can create large operational impact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86C98-C1CF-4205-9940-36A254F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8</a:t>
            </a:r>
          </a:p>
        </p:txBody>
      </p:sp>
    </p:spTree>
    <p:extLst>
      <p:ext uri="{BB962C8B-B14F-4D97-AF65-F5344CB8AC3E}">
        <p14:creationId xmlns:p14="http://schemas.microsoft.com/office/powerpoint/2010/main" val="4237823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3CEEF-E146-43EF-AE2A-E8E5F4BD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Customer and product analysis connects operations to business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37356-2881-4BD2-B8B5-2190C1DA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Sales and profit explain why logistics performance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9F64C-C0C5-4292-A81F-446C083A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B05E4-6F9B-4B34-82BC-781695DC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19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36.78M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7902A-F45E-48E2-9D76-7261572C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Total Sales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87AF78-0ABF-4533-9719-DAA0D42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ED49D-C709-410D-8D6F-0B6D5754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19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3.97M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A4135-6399-41C5-92FE-877C1980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Total Profit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33D61-732D-4378-A258-2E180CA6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45EB9-6295-4148-8640-C4217131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B2545"/>
                </a:solidFill>
              </a:defRPr>
            </a:pPr>
            <a:r>
              <a:rPr sz="2250" b="1">
                <a:solidFill>
                  <a:srgbClr val="0B2545"/>
                </a:solidFill>
              </a:rPr>
              <a:t>559.45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08CA1-B621-4DC8-9233-249774B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574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16B"/>
                </a:solidFill>
              </a:defRPr>
            </a:pPr>
            <a:r>
              <a:rPr sz="1125" b="0">
                <a:solidFill>
                  <a:srgbClr val="52616B"/>
                </a:solidFill>
              </a:rPr>
              <a:t>Avg Sales / Order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1ACD2-2F33-4543-BB81-87C567CE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0"/>
            <a:ext cx="9525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B3A"/>
                </a:solidFill>
              </a:defRPr>
            </a:pPr>
            <a:r>
              <a:rPr sz="1575" b="0">
                <a:solidFill>
                  <a:srgbClr val="182B3A"/>
                </a:solidFill>
              </a:rPr>
              <a:t>• Consumer segment: 93,504 shipments, 19.10M sales, 2.07M profit</a:t>
            </a:r>
          </a:p>
          <a:p xmlns:a="http://schemas.openxmlformats.org/drawingml/2006/main">
            <a:pPr algn="l">
              <a:defRPr sz="1575" b="0">
                <a:solidFill>
                  <a:srgbClr val="182B3A"/>
                </a:solidFill>
              </a:defRPr>
            </a:pPr>
            <a:r>
              <a:rPr sz="1575" b="0">
                <a:solidFill>
                  <a:srgbClr val="182B3A"/>
                </a:solidFill>
              </a:rPr>
              <a:t>• Corporate segment: 54,789 shipments, 11.17M sales, 1.20M profit</a:t>
            </a:r>
          </a:p>
          <a:p xmlns:a="http://schemas.openxmlformats.org/drawingml/2006/main">
            <a:pPr algn="l">
              <a:defRPr sz="1575" b="0">
                <a:solidFill>
                  <a:srgbClr val="182B3A"/>
                </a:solidFill>
              </a:defRPr>
            </a:pPr>
            <a:r>
              <a:rPr sz="1575" b="0">
                <a:solidFill>
                  <a:srgbClr val="182B3A"/>
                </a:solidFill>
              </a:rPr>
              <a:t>• Home Office segment: 32,226 shipments, 6.52M sales, 0.69M profit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86849-6651-4F50-A404-EDE86A60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9</a:t>
            </a:r>
          </a:p>
        </p:txBody>
      </p:sp>
    </p:spTree>
    <p:extLst>
      <p:ext uri="{BB962C8B-B14F-4D97-AF65-F5344CB8AC3E}">
        <p14:creationId xmlns:p14="http://schemas.microsoft.com/office/powerpoint/2010/main" val="13029602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4F067-9EB7-4384-B18F-3E08F7D8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2545"/>
                </a:solidFill>
              </a:defRPr>
            </a:pPr>
            <a:r>
              <a:rPr sz="2850" b="1">
                <a:solidFill>
                  <a:srgbClr val="0B2545"/>
                </a:solidFill>
              </a:rPr>
              <a:t>Management should use the dashboard for targeted 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B294E-6D05-417F-B46E-E2B20A6F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The project turns raw data into validated operational priorities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B7074-ED84-4EB9-BA51-0C8280F4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95450"/>
            <a:ext cx="94297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Monitor high-risk routes and regions regularly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Investigate why high-priority shipments are showing 100% late/high-risk behavior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Improve Standard Class performance because it has the largest shipment volume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Use monthly tracking to compare changes in late shipments and shipping days</a:t>
            </a:r>
          </a:p>
          <a:p xmlns:a="http://schemas.openxmlformats.org/drawingml/2006/main">
            <a:pPr algn="l">
              <a:defRPr sz="1800" b="0">
                <a:solidFill>
                  <a:srgbClr val="182B3A"/>
                </a:solidFill>
              </a:defRPr>
            </a:pPr>
            <a:r>
              <a:rPr sz="1800" b="0">
                <a:solidFill>
                  <a:srgbClr val="182B3A"/>
                </a:solidFill>
              </a:rPr>
              <a:t>• Future scope: forecasting, real-time tracking, carrier cost, and root-cause delay fields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30922-1BD8-4E1A-A0FB-36FF8016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</a:defRPr>
            </a:pPr>
            <a:r>
              <a:rPr sz="900" b="0">
                <a:solidFill>
                  <a:srgbClr val="6B7280"/>
                </a:solidFill>
              </a:rPr>
              <a:t>Supply Chain Management Project | 10</a:t>
            </a:r>
          </a:p>
        </p:txBody>
      </p:sp>
    </p:spTree>
    <p:extLst>
      <p:ext uri="{BB962C8B-B14F-4D97-AF65-F5344CB8AC3E}">
        <p14:creationId xmlns:p14="http://schemas.microsoft.com/office/powerpoint/2010/main" val="1681231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2026-08-19T20:23:22.6610000Z</dcterms:created>
  <dcterms:modified xsi:type="dcterms:W3CDTF">2026-08-19T20:23:22.6610000Z</dcterms:modified>
</coreProperties>
</file>